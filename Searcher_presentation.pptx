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95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216" y="1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7053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Кратко представить проект: поисковый сервис поверх коллекции из 6000 статей Wikipedia. Пользователь вводит текстовый запрос — сервис возвращает релевантные документы с подсветкой совпадений, и по желанию — краткую суммаризацию через LLM. Отдельно подчеркнуть, что реализовано три роли доступа с разными правами — это важно для дальнейших слайдов.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Пройтись по таблице «требование → реализация»: каждый пункт технического задания практики закрыт конкретным файлом и функцией в репозитории. Отдельно подчеркнуть, что алгоритм поиска — BM25, он приходит «из коробки» через Elasticsearch multi_match, и это отдельно закрывает требование по алгоритму поиска без написания дополнительного кода.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схему из четырёх блоков: в центре — FastAPI, который отдаёт REST API и статический UI. Он обращается к Elasticsearch за полнотекстовым поиском с BM25-ранжированием, к SQLite через SQLAlchemy — за пользователями, ролями, аудитом и избранным, и опционально — к Claude Haiku для суммаризации результатов, с graceful fallback, если ключа нет.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Реляционная часть — SQLite, четыре сущности, все связи один-ко-многим: roles к users (одна роль у многих пользователей), users к search_logs — это аудит поисковых запросов, и users к saved_articles — избранное. Пароли — только bcrypt-хэш, username уникален. Отдельно объяснить архитектурное решение: роли вынесены отдельной таблицей, чтобы связь была видна как полноценная 1:N и роли можно было администрировать без изменения кода; а статьи не дублируются в SQL — saved_articles хранит только ссылку и заголовок, полный текст остаётся в Elasticsearch.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Показать три показательных SQL-запроса из app/routers/admin.py, объясняя суть, а не построчно код: первый соединяет три таблицы через JOIN, чтобы получить историю поиска сразу с ролью пользователя; второй группирует запросы через GROUP BY для топа популярных запросов; третий — самый интересный: через подзапрос считаем среднюю активность по системе, а затем JOIN и GROUP BY с HAVING отбирают пользователей, которые ищут чаще этого среднего. Полный текст запросов — в репозитории, app/routers/admin.py.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Реализовано три роли с чётко разграниченными правами. Reader может только искать и видеть свою историю с избранным. Writer дополнительно может сохранять статьи. Owner видит и управляет данными всех пользователей и назначает роли — это администратор системы.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Пароли хранятся только в виде bcrypt-хэшей. Авторизация — через JWT с алгоритмом HS256, токен передаётся в заголовке Authorization. Самая важная архитектурная деталь для комиссии: роль пользователя не зашита в сам токен, а перечитывается из базы на каждый запрос — значит, если owner меняет роль пользователя, изменение действует немедленно, без необходимости заново логиниться.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Основные эндпоинты сгруппированы по уровню доступа: публичные — регистрация и логин, авторизованные — поиск, категории и своя история, writer и owner — работа с избранным, и только owner — админ-панель со статистикой и управлением ролями. Полная спецификация автогенерируется в Swagger UI на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Функционал поиска: полнотекстовый multi_match с fuzziness, то есть допускаются опечатки в запросе; подсветка совпадений прямо в выдаче; фильтрация по одной категории Wikipedia за раз. Отдельно подчеркнуть суммаризацию: используется анти-галлюцинационный промпт, при котором модель явно говорит о нехватке данных, если результатов поиска недостаточно для ответа, а не додумывает.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End-to-end smoke-тест прогоняет весь пользовательский сценарий одним запуском скрипта: регистрация, логин, поиск с токеном и без, фильтр по категории, проверка запрета сохранения для reader, повышение роли пользователя до owner, сохранение статьи и, наконец, проверку доступа к /admin/* — запрет для reader и разрешение для owner. Все проверки завершаются статусом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сгруппирован по слоям. Бэкенд — Python 3.10 и FastAPI на Uvicorn, валидация через Pydantic. Поиск и данные — Elasticsearch 8.11 с BM25-ранжированием и SQLite с SQLAlchemy 2.0 для реляционной части. Авторизация — PyJWT и bcrypt. LLM/RAG — Anthropic SDK, модель Claude Haiku с экстрактивным fallback. Сбор данных — requests, BeautifulSoup4 и датасеты HuggingFace. Frontend — простой HTML/CSS/JS без фреймворка, инфраструктура — Docker Compose для Elasticsearch.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Итоги: реализован поисковый сервис на FastAPI и Elasticsearch с полнотекстовым поиском по 6000 статьям Wikipedia, подсветкой совпадений и фильтром по категориям. Результаты можно суммаризировать через Claude Haiku, с анти-галлюцинационным промптом и fallback-режимом без ключа. Есть авторизация по JWT и три роли доступа с разграничением прав. Реализован аудит поисковых запросов, избранное и админ-панель. Коллекция дедуплицирована по хэшу контента. Вся цепочка проверена end-to-end тестом.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Список источников: официальная документация FastAPI, Query DSL Elasticsearch 8.x, SQLAlchemy 2.0, PyJWT, bcrypt, MediaWiki Action API, HuggingFace datasets и документация Claude API от Anthropic. Ссылка на репозиторий проекта — на слайде. Спасибо за внимание, готова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3" name="Shape 1"/>
          <p:cNvSpPr/>
          <p:nvPr/>
        </p:nvSpPr>
        <p:spPr>
          <a:xfrm>
            <a:off x="8961120" y="-2011680"/>
            <a:ext cx="5943600" cy="59436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Shape 2"/>
          <p:cNvSpPr/>
          <p:nvPr/>
        </p:nvSpPr>
        <p:spPr>
          <a:xfrm>
            <a:off x="10424160" y="420624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Searcher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Поисковый сервис по статьям Wikipedia</a:t>
            </a:r>
            <a:endParaRPr lang="en-US" sz="2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RAG-суммаризацией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206240"/>
            <a:ext cx="59436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22960" y="443484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b="1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Соколова Юлия
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ПРЕДМЕТНАЯ ОБЛАСТЬ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по 6000 статьям Wikipedia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2860" dirty="0"/>
          </a:p>
        </p:txBody>
      </p:sp>
      <p:sp>
        <p:nvSpPr>
          <p:cNvPr id="6" name="Text 4"/>
          <p:cNvSpPr/>
          <p:nvPr/>
        </p:nvSpPr>
        <p:spPr>
          <a:xfrm>
            <a:off x="365760" y="28803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Пользователь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965960" y="2212848"/>
            <a:ext cx="640080" cy="23774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8" name="Shape 6"/>
          <p:cNvSpPr/>
          <p:nvPr/>
        </p:nvSpPr>
        <p:spPr>
          <a:xfrm>
            <a:off x="2834640" y="182880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CFE8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2834640" y="18288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Текстовый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0" y="2212848"/>
            <a:ext cx="640080" cy="23774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6355080" y="1691640"/>
            <a:ext cx="2651760" cy="1280160"/>
          </a:xfrm>
          <a:prstGeom prst="roundRect">
            <a:avLst>
              <a:gd name="adj" fmla="val 8571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(поисковый сервис)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235440" y="2212848"/>
            <a:ext cx="640080" cy="23774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Shape 12"/>
          <p:cNvSpPr/>
          <p:nvPr/>
        </p:nvSpPr>
        <p:spPr>
          <a:xfrm>
            <a:off x="10104120" y="182880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CFE8F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10104120" y="18288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Релевантные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документы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2971800"/>
            <a:ext cx="0" cy="502920"/>
          </a:xfrm>
          <a:prstGeom prst="line">
            <a:avLst/>
          </a:prstGeom>
          <a:noFill/>
          <a:ln w="12700">
            <a:solidFill>
              <a:srgbClr val="5B6B7A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537960" y="3474720"/>
            <a:ext cx="22860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5B6B7A"/>
            </a:solidFill>
            <a:prstDash val="dash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537960" y="34747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опционально: краткая суммаризация LLM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8"/>
          <p:cNvSpPr/>
          <p:nvPr/>
        </p:nvSpPr>
        <p:spPr>
          <a:xfrm>
            <a:off x="777240" y="4096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Коллекция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480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6000 статей Wikipedia, полнотекстовый индекс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343400" y="39319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21"/>
          <p:cNvSpPr/>
          <p:nvPr/>
        </p:nvSpPr>
        <p:spPr>
          <a:xfrm>
            <a:off x="4572000" y="4096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 сервиса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4480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релевантные документы с подсветкой совпадений в тексте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38160" y="3931920"/>
            <a:ext cx="3520440" cy="1554480"/>
          </a:xfrm>
          <a:prstGeom prst="roundRect">
            <a:avLst>
              <a:gd name="adj" fmla="val 4706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8366760" y="40965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366760" y="4480560"/>
            <a:ext cx="3108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роли пользователей с разными правами (reader / writer / owner)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ТЗ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Требование → реализация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83464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Требование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Реализация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Парсинг источника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scripts/parser.py — ≥ 5000 статей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Загрузка в поисковый индекс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scripts/indexer.py — индекс Elasticsearch «articles»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Сервер, отдающий документы по запросу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/search (multi_match + fuzziness + highlight)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Суммаризация через LLM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app/summarizer.py — Claude Haiku с экстрактивным fallback без API-ключа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3"/>
          <p:cNvSpPr/>
          <p:nvPr/>
        </p:nvSpPr>
        <p:spPr>
          <a:xfrm>
            <a:off x="868680" y="49834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868680" y="49834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340" dirty="0"/>
          </a:p>
        </p:txBody>
      </p:sp>
      <p:sp>
        <p:nvSpPr>
          <p:cNvPr id="8" name="Text 5"/>
          <p:cNvSpPr/>
          <p:nvPr/>
        </p:nvSpPr>
        <p:spPr>
          <a:xfrm>
            <a:off x="1920240" y="4892040"/>
            <a:ext cx="9464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 поиска: BM25 (Okapi BM25). </a:t>
            </a:r>
            <a:r>
              <a:rPr lang="en-US" sz="13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Задействован через Elasticsearch multi_match по умолчанию — это закрывает требование «алгоритм поиска» без дополнительного кода.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компонента системы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709160" y="3223260"/>
            <a:ext cx="265176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4709160" y="322326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(app/)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статический UI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16916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1051560" y="1691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полнотекстовый индекс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(title, content, url, categories)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BM25-ранжирование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595360" y="16916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732520" y="1691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data/searcher.db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роли,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поиска, избранное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9377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1051560" y="493776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ORM-слой доступа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SQLite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595360" y="4937760"/>
            <a:ext cx="2743200" cy="1188720"/>
          </a:xfrm>
          <a:prstGeom prst="roundRect">
            <a:avLst>
              <a:gd name="adj" fmla="val 7692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732520" y="4937760"/>
            <a:ext cx="2468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
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опционально: суммаризация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результатов поиска,</a:t>
            </a:r>
            <a:endParaRPr lang="en-US" sz="14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graceful fallback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286000" y="2743200"/>
            <a:ext cx="2880360" cy="480060"/>
          </a:xfrm>
          <a:prstGeom prst="line">
            <a:avLst/>
          </a:prstGeom>
          <a:noFill/>
          <a:ln w="25400">
            <a:solidFill>
              <a:srgbClr val="AFC4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 flipV="1">
            <a:off x="6903720" y="2743200"/>
            <a:ext cx="3063240" cy="480060"/>
          </a:xfrm>
          <a:prstGeom prst="line">
            <a:avLst/>
          </a:prstGeom>
          <a:noFill/>
          <a:ln w="25400">
            <a:solidFill>
              <a:srgbClr val="AFC4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 flipV="1">
            <a:off x="2286000" y="4274820"/>
            <a:ext cx="2880360" cy="662940"/>
          </a:xfrm>
          <a:prstGeom prst="line">
            <a:avLst/>
          </a:prstGeom>
          <a:noFill/>
          <a:ln w="25400">
            <a:solidFill>
              <a:srgbClr val="AFC4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903720" y="4274820"/>
            <a:ext cx="3063240" cy="662940"/>
          </a:xfrm>
          <a:prstGeom prst="line">
            <a:avLst/>
          </a:prstGeom>
          <a:noFill/>
          <a:ln w="25400">
            <a:solidFill>
              <a:srgbClr val="AFC4C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Стрелки условны: FastAPI — центральный слой, обращающийся ко всем компонентам напрямую.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ER-ДИАГРАММА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 — 4 сущности, связи 1:N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48256"/>
            <a:ext cx="2377440" cy="98755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2048256"/>
            <a:ext cx="237744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548640" y="20482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13232" y="2414016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·  PK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13232" y="2670048"/>
            <a:ext cx="2048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(reader|writer|owner)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645920"/>
            <a:ext cx="2880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246120" y="1645920"/>
            <a:ext cx="288036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10712" y="2011680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·  PK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10712" y="2267712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 ·  UNIQUE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10712" y="2523744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password_hash  (bcrypt)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410712" y="2779776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role_id  ·  FK → roles.id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410712" y="3035808"/>
            <a:ext cx="2551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92240" y="1645920"/>
            <a:ext cx="3154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8" name="Shape 16"/>
          <p:cNvSpPr/>
          <p:nvPr/>
        </p:nvSpPr>
        <p:spPr>
          <a:xfrm>
            <a:off x="6492240" y="164592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492240" y="16459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search_logs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656832" y="2011680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·  PK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656832" y="2267712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·  FK → users.id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656832" y="2523744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56832" y="2779776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results_count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656832" y="3035808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92240" y="3566160"/>
            <a:ext cx="315468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6492240" y="3566160"/>
            <a:ext cx="3154680" cy="365760"/>
          </a:xfrm>
          <a:prstGeom prst="roundRect">
            <a:avLst>
              <a:gd name="adj" fmla="val 15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6492240" y="356616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saved_articles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656832" y="3931920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·  PK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56832" y="4187952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user_id  ·  FK → users.id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56832" y="4443984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article_url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56832" y="4700016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article_title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656832" y="4956048"/>
            <a:ext cx="28254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B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saved_at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926080" y="2414016"/>
            <a:ext cx="320040" cy="9144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6" name="Shape 34"/>
          <p:cNvSpPr/>
          <p:nvPr/>
        </p:nvSpPr>
        <p:spPr>
          <a:xfrm>
            <a:off x="6126480" y="2103120"/>
            <a:ext cx="365760" cy="4572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365760" cy="114300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2" name="Shape 40"/>
          <p:cNvSpPr/>
          <p:nvPr/>
        </p:nvSpPr>
        <p:spPr>
          <a:xfrm>
            <a:off x="548640" y="5486400"/>
            <a:ext cx="10515600" cy="548640"/>
          </a:xfrm>
          <a:prstGeom prst="roundRect">
            <a:avLst>
              <a:gd name="adj" fmla="val 13333"/>
            </a:avLst>
          </a:prstGeom>
          <a:solidFill>
            <a:srgbClr val="CFE8F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41"/>
          <p:cNvSpPr/>
          <p:nvPr/>
        </p:nvSpPr>
        <p:spPr>
          <a:xfrm>
            <a:off x="822960" y="5486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так: </a:t>
            </a: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вынесены в отдельную справочную таблицу, а не enum-строкой в users; текст статей не дублируется в SQL — saved_articles хранит только url и заголовок, сама статья живёт в Elasticsearch.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SQL-ЗАПРОСЫ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 зачем считаем в admin.py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app/routers/admin.py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731520" y="180136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31520" y="180136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063240" y="1746504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поиска с ролью пользователя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063240" y="2130552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Соединяем search_logs, users и roles, чтобы в одной строке видеть не только запрос и время, но и роль того, кто искал — без этого пришлось бы делать отдельный запрос на каждого пользователя.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731520" y="321868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731520" y="321868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063240" y="3163824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Топ поисковых запросов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063240" y="3547872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Группируем записи search_logs по тексту запроса и считаем, сколько раз каждый встречался — так формируется рейтинг самых популярных запросов для админ-статистики.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731520" y="4636008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731520" y="463600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+ GROUP BY + подзапрос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063240" y="4581144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Пользователи, ищущие чаще среднего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063240" y="4965192"/>
            <a:ext cx="836676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подзапросом считаем среднее число запросов на пользователя по всей системе, затем через JOIN и GROUP BY отбираем тех, чья активность выше этого среднего — HAVING фильтрует уже агрегированные группы.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И ПРАВА ДОСТУПА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reader · writer · owner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27432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Поиск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Своя история / избранное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Сохранять статьи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Чужие данные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ролями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(только свои)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B23A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(всё)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АВТОРИЗАЦИЯ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Пароли, JWT, контроль ролей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10" dirty="0"/>
          </a:p>
        </p:txBody>
      </p:sp>
      <p:sp>
        <p:nvSpPr>
          <p:cNvPr id="7" name="Text 5"/>
          <p:cNvSpPr/>
          <p:nvPr/>
        </p:nvSpPr>
        <p:spPr>
          <a:xfrm>
            <a:off x="192024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паролей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920240" y="2377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Пароли хранятся только в виде bcrypt-хэшей — никогда в открытом виде.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6446520" y="20116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446520" y="20116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</a:t>
            </a:r>
            <a:endParaRPr lang="en-US" sz="2210" dirty="0"/>
          </a:p>
        </p:txBody>
      </p:sp>
      <p:sp>
        <p:nvSpPr>
          <p:cNvPr id="12" name="Text 10"/>
          <p:cNvSpPr/>
          <p:nvPr/>
        </p:nvSpPr>
        <p:spPr>
          <a:xfrm>
            <a:off x="74980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(HS256)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498080" y="2377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передаётся в заголовке Authorization: Bearer при каждом запросе.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10515600" cy="2240280"/>
          </a:xfrm>
          <a:prstGeom prst="roundRect">
            <a:avLst>
              <a:gd name="adj" fmla="val 4082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914400" y="4251960"/>
            <a:ext cx="822960" cy="822960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914400" y="4251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4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340" dirty="0"/>
          </a:p>
        </p:txBody>
      </p:sp>
      <p:sp>
        <p:nvSpPr>
          <p:cNvPr id="17" name="Text 15"/>
          <p:cNvSpPr/>
          <p:nvPr/>
        </p:nvSpPr>
        <p:spPr>
          <a:xfrm>
            <a:off x="1920240" y="4114800"/>
            <a:ext cx="87782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деталь
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пользователя перечитывается из БД при каждом запросе, а не «вшита» в токен. Поэтому смена роли применяется мгновенно, без пере-логина.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Основные эндпоинты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4023360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Метод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Путь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Доступ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Назначение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/auth/register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публичный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регистрация (роль по умолчанию reader)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/auth/login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публичный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выдача JWT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/search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авторизован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поиск + суммаризация + фильтр по категории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/categories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авторизован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список категорий для фильтра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/history/me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авторизован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своя история поиска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 GET / DELETE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/saved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writer / 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избранное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/admin/history, /admin/stats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админ-панель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 PATCH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/admin/users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управление ролями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спецификация — автосгенерированный Swagger на /docs.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 ПОИСКА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умеет /search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09728" cy="1737360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Text 4"/>
          <p:cNvSpPr/>
          <p:nvPr/>
        </p:nvSpPr>
        <p:spPr>
          <a:xfrm>
            <a:off x="914400" y="19019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Fuzziness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полнотекстовый поиск через multi_match с fuzziness — допускает опечатки в запросе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26480" y="173736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Shape 7"/>
          <p:cNvSpPr/>
          <p:nvPr/>
        </p:nvSpPr>
        <p:spPr>
          <a:xfrm>
            <a:off x="6126480" y="1737360"/>
            <a:ext cx="109728" cy="1737360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6492240" y="190195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Подсветка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highlighting совпадений прямо в выдаче результатов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7033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1"/>
          <p:cNvSpPr/>
          <p:nvPr/>
        </p:nvSpPr>
        <p:spPr>
          <a:xfrm>
            <a:off x="548640" y="3703320"/>
            <a:ext cx="109728" cy="1737360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2"/>
          <p:cNvSpPr/>
          <p:nvPr/>
        </p:nvSpPr>
        <p:spPr>
          <a:xfrm>
            <a:off x="914400" y="38679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по категории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14400" y="42976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фильтрация по одной категории Wikipedia за раз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0" y="370332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Shape 15"/>
          <p:cNvSpPr/>
          <p:nvPr/>
        </p:nvSpPr>
        <p:spPr>
          <a:xfrm>
            <a:off x="6126480" y="3703320"/>
            <a:ext cx="109728" cy="1737360"/>
          </a:xfrm>
          <a:prstGeom prst="round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6"/>
          <p:cNvSpPr/>
          <p:nvPr/>
        </p:nvSpPr>
        <p:spPr>
          <a:xfrm>
            <a:off x="6492240" y="3867912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Суммаризация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297680"/>
            <a:ext cx="47548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опциональная суммаризация ответа через Claude с анти-галлюцинационным промптом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ТЕСТИРОВАНИЕ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smoke-тест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scripts/smoke_test.py — один прогон покрывает весь пользовательский сценарий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685800" y="197053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85800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44" dirty="0"/>
          </a:p>
        </p:txBody>
      </p:sp>
      <p:sp>
        <p:nvSpPr>
          <p:cNvPr id="8" name="Text 6"/>
          <p:cNvSpPr/>
          <p:nvPr/>
        </p:nvSpPr>
        <p:spPr>
          <a:xfrm>
            <a:off x="118872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63824" y="2089404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3291840" y="16916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3429000" y="197053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3429000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44" dirty="0"/>
          </a:p>
        </p:txBody>
      </p:sp>
      <p:sp>
        <p:nvSpPr>
          <p:cNvPr id="13" name="Text 11"/>
          <p:cNvSpPr/>
          <p:nvPr/>
        </p:nvSpPr>
        <p:spPr>
          <a:xfrm>
            <a:off x="393192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07024" y="2089404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6035040" y="16916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6172200" y="197053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6172200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44" dirty="0"/>
          </a:p>
        </p:txBody>
      </p:sp>
      <p:sp>
        <p:nvSpPr>
          <p:cNvPr id="18" name="Text 16"/>
          <p:cNvSpPr/>
          <p:nvPr/>
        </p:nvSpPr>
        <p:spPr>
          <a:xfrm>
            <a:off x="667512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с/без токена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50224" y="2089404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8778240" y="169164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8915400" y="197053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8915400" y="19705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44" dirty="0"/>
          </a:p>
        </p:txBody>
      </p:sp>
      <p:sp>
        <p:nvSpPr>
          <p:cNvPr id="23" name="Text 21"/>
          <p:cNvSpPr/>
          <p:nvPr/>
        </p:nvSpPr>
        <p:spPr>
          <a:xfrm>
            <a:off x="9418320" y="169164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 по категории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29718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685800" y="325069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4"/>
          <p:cNvSpPr/>
          <p:nvPr/>
        </p:nvSpPr>
        <p:spPr>
          <a:xfrm>
            <a:off x="685800" y="3250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44" dirty="0"/>
          </a:p>
        </p:txBody>
      </p:sp>
      <p:sp>
        <p:nvSpPr>
          <p:cNvPr id="27" name="Text 25"/>
          <p:cNvSpPr/>
          <p:nvPr/>
        </p:nvSpPr>
        <p:spPr>
          <a:xfrm>
            <a:off x="1188720" y="29718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 сохранения (reader)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63824" y="3369564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9" name="Shape 27"/>
          <p:cNvSpPr/>
          <p:nvPr/>
        </p:nvSpPr>
        <p:spPr>
          <a:xfrm>
            <a:off x="3291840" y="29718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3429000" y="325069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Text 29"/>
          <p:cNvSpPr/>
          <p:nvPr/>
        </p:nvSpPr>
        <p:spPr>
          <a:xfrm>
            <a:off x="3429000" y="3250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44" dirty="0"/>
          </a:p>
        </p:txBody>
      </p:sp>
      <p:sp>
        <p:nvSpPr>
          <p:cNvPr id="32" name="Text 30"/>
          <p:cNvSpPr/>
          <p:nvPr/>
        </p:nvSpPr>
        <p:spPr>
          <a:xfrm>
            <a:off x="3931920" y="29718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повышение роли (owner)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07024" y="3369564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4" name="Shape 32"/>
          <p:cNvSpPr/>
          <p:nvPr/>
        </p:nvSpPr>
        <p:spPr>
          <a:xfrm>
            <a:off x="6035040" y="29718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35" name="Shape 33"/>
          <p:cNvSpPr/>
          <p:nvPr/>
        </p:nvSpPr>
        <p:spPr>
          <a:xfrm>
            <a:off x="6172200" y="325069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6" name="Text 34"/>
          <p:cNvSpPr/>
          <p:nvPr/>
        </p:nvSpPr>
        <p:spPr>
          <a:xfrm>
            <a:off x="6172200" y="3250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44" dirty="0"/>
          </a:p>
        </p:txBody>
      </p:sp>
      <p:sp>
        <p:nvSpPr>
          <p:cNvPr id="37" name="Text 35"/>
          <p:cNvSpPr/>
          <p:nvPr/>
        </p:nvSpPr>
        <p:spPr>
          <a:xfrm>
            <a:off x="6675120" y="29718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статьи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50224" y="3369564"/>
            <a:ext cx="118872" cy="164592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9" name="Shape 37"/>
          <p:cNvSpPr/>
          <p:nvPr/>
        </p:nvSpPr>
        <p:spPr>
          <a:xfrm>
            <a:off x="8778240" y="2971800"/>
            <a:ext cx="2606040" cy="960120"/>
          </a:xfrm>
          <a:prstGeom prst="roundRect">
            <a:avLst>
              <a:gd name="adj" fmla="val 7619"/>
            </a:avLst>
          </a:prstGeom>
          <a:solidFill>
            <a:srgbClr val="F5F9FB"/>
          </a:solidFill>
          <a:ln w="12700">
            <a:solidFill>
              <a:srgbClr val="D7E2E8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40" name="Shape 38"/>
          <p:cNvSpPr/>
          <p:nvPr/>
        </p:nvSpPr>
        <p:spPr>
          <a:xfrm>
            <a:off x="8915400" y="3250692"/>
            <a:ext cx="402336" cy="402336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9"/>
          <p:cNvSpPr/>
          <p:nvPr/>
        </p:nvSpPr>
        <p:spPr>
          <a:xfrm>
            <a:off x="8915400" y="32506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44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44" dirty="0"/>
          </a:p>
        </p:txBody>
      </p:sp>
      <p:sp>
        <p:nvSpPr>
          <p:cNvPr id="42" name="Text 40"/>
          <p:cNvSpPr/>
          <p:nvPr/>
        </p:nvSpPr>
        <p:spPr>
          <a:xfrm>
            <a:off x="9418320" y="2971800"/>
            <a:ext cx="1828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к /admin/*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" y="4434840"/>
            <a:ext cx="10515600" cy="1280160"/>
          </a:xfrm>
          <a:prstGeom prst="roundRect">
            <a:avLst>
              <a:gd name="adj" fmla="val 7143"/>
            </a:avLst>
          </a:prstGeom>
          <a:solidFill>
            <a:srgbClr val="1E4B3A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4" name="Shape 42"/>
          <p:cNvSpPr/>
          <p:nvPr/>
        </p:nvSpPr>
        <p:spPr>
          <a:xfrm>
            <a:off x="914400" y="4709160"/>
            <a:ext cx="731520" cy="731520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5" name="Text 43"/>
          <p:cNvSpPr/>
          <p:nvPr/>
        </p:nvSpPr>
        <p:spPr>
          <a:xfrm>
            <a:off x="914400" y="4709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80" b="1" dirty="0">
                <a:solidFill>
                  <a:srgbClr val="1E4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80" dirty="0"/>
          </a:p>
        </p:txBody>
      </p:sp>
      <p:sp>
        <p:nvSpPr>
          <p:cNvPr id="46" name="Text 44"/>
          <p:cNvSpPr/>
          <p:nvPr/>
        </p:nvSpPr>
        <p:spPr>
          <a:xfrm>
            <a:off x="1828800" y="443484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все проверки — </a:t>
            </a:r>
            <a:r>
              <a:rPr lang="en-US" sz="1600" b="1" dirty="0">
                <a:solidFill>
                  <a:srgbClr val="6FE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[PASS]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ТЕХНОЛОГИЙ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 слоям системы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20440" cy="1828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Бэкенд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25856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3.10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FastAPI + Uvicorn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Pydantic 2.9 (валидация)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Shape 9"/>
          <p:cNvSpPr/>
          <p:nvPr/>
        </p:nvSpPr>
        <p:spPr>
          <a:xfrm>
            <a:off x="4297680" y="1965960"/>
            <a:ext cx="3520440" cy="1828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Text 10"/>
          <p:cNvSpPr/>
          <p:nvPr/>
        </p:nvSpPr>
        <p:spPr>
          <a:xfrm>
            <a:off x="4480560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хранение данных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80560" y="225856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Elasticsearch 8.11 (BM25)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SQLite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SQLAlchemy 2.0 (ORM)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3"/>
          <p:cNvSpPr/>
          <p:nvPr/>
        </p:nvSpPr>
        <p:spPr>
          <a:xfrm>
            <a:off x="8046720" y="1691640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4"/>
          <p:cNvSpPr/>
          <p:nvPr/>
        </p:nvSpPr>
        <p:spPr>
          <a:xfrm>
            <a:off x="8046720" y="1965960"/>
            <a:ext cx="3520440" cy="1828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229600" y="169164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и безопасность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25856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PyJWT — JWT (HS256)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bcrypt — хэширование паролей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3520440" cy="1828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20"/>
          <p:cNvSpPr/>
          <p:nvPr/>
        </p:nvSpPr>
        <p:spPr>
          <a:xfrm>
            <a:off x="73152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/ RAG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31520" y="445312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Anthropic SDK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Claude Haiku — суммаризация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экстрактивный fallback без ключа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Shape 23"/>
          <p:cNvSpPr/>
          <p:nvPr/>
        </p:nvSpPr>
        <p:spPr>
          <a:xfrm>
            <a:off x="4297680" y="3886200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Shape 24"/>
          <p:cNvSpPr/>
          <p:nvPr/>
        </p:nvSpPr>
        <p:spPr>
          <a:xfrm>
            <a:off x="4297680" y="4160520"/>
            <a:ext cx="3520440" cy="1828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Text 25"/>
          <p:cNvSpPr/>
          <p:nvPr/>
        </p:nvSpPr>
        <p:spPr>
          <a:xfrm>
            <a:off x="448056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и подготовка данных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480560" y="445312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requests + BeautifulSoup4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datasets (HuggingFace Hub)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python-dotenv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886200"/>
            <a:ext cx="3520440" cy="1965960"/>
          </a:xfrm>
          <a:prstGeom prst="roundRect">
            <a:avLst>
              <a:gd name="adj" fmla="val 4651"/>
            </a:avLst>
          </a:prstGeom>
          <a:solidFill>
            <a:srgbClr val="F5F9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Shape 28"/>
          <p:cNvSpPr/>
          <p:nvPr/>
        </p:nvSpPr>
        <p:spPr>
          <a:xfrm>
            <a:off x="8046720" y="3886200"/>
            <a:ext cx="3520440" cy="457200"/>
          </a:xfrm>
          <a:prstGeom prst="roundRect">
            <a:avLst>
              <a:gd name="adj" fmla="val 2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1" name="Shape 29"/>
          <p:cNvSpPr/>
          <p:nvPr/>
        </p:nvSpPr>
        <p:spPr>
          <a:xfrm>
            <a:off x="8046720" y="4160520"/>
            <a:ext cx="3520440" cy="182880"/>
          </a:xfrm>
          <a:prstGeom prst="rect">
            <a:avLst/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2" name="Text 30"/>
          <p:cNvSpPr/>
          <p:nvPr/>
        </p:nvSpPr>
        <p:spPr>
          <a:xfrm>
            <a:off x="8229600" y="38862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и инфраструктура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229600" y="4453128"/>
            <a:ext cx="31546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static/index.html — HTML/CSS/JS без фреймворка</a:t>
            </a:r>
            <a:endParaRPr lang="en-US" sz="1100" dirty="0"/>
          </a:p>
          <a:p>
            <a:pPr marL="0" indent="0">
              <a:lnSpc>
                <a:spcPct val="125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Docker Compose — Elasticsearch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Итоги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234440" y="148132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Поисковый сервис на FastAPI поверх Elasticsearch: полнотекстовый поиск с BM25-ранжированием по 6000 статьям Wikipedia, подсветкой совпадений и фильтром по категориям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548640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276856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Суммаризация результатов поиска через Claude Haiku с анти-галлюцинационным промптом и экстрактивным fallback без API-ключа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145536"/>
            <a:ext cx="457200" cy="457200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8"/>
          <p:cNvSpPr/>
          <p:nvPr/>
        </p:nvSpPr>
        <p:spPr>
          <a:xfrm>
            <a:off x="548640" y="314553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34440" y="3072384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Авторизация по JWT и три роли доступа — reader, writer, owner — с разграничением прав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457200" cy="457200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548640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34440" y="3867912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поисковых запросов и «избранное» в реляционной БД (SQLite), админ-панель со статистикой и управлением ролями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736592"/>
            <a:ext cx="457200" cy="457200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4"/>
          <p:cNvSpPr/>
          <p:nvPr/>
        </p:nvSpPr>
        <p:spPr>
          <a:xfrm>
            <a:off x="548640" y="4736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46634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Дедупликация коллекции статей по хэшу контента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5532120"/>
            <a:ext cx="457200" cy="457200"/>
          </a:xfrm>
          <a:prstGeom prst="ellipse">
            <a:avLst/>
          </a:prstGeom>
          <a:solidFill>
            <a:srgbClr val="6FE3B4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548640" y="5532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5458968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Работоспособность всего сценария подтверждена end-to-end smoke-тестом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И ССЫЛКИ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4708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docs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26480" y="184708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5"/>
          <p:cNvSpPr/>
          <p:nvPr/>
        </p:nvSpPr>
        <p:spPr>
          <a:xfrm>
            <a:off x="6446520" y="17373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8.x Query DSL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1401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7"/>
          <p:cNvSpPr/>
          <p:nvPr/>
        </p:nvSpPr>
        <p:spPr>
          <a:xfrm>
            <a:off x="868680" y="2304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2.0 docs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26480" y="2414016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9"/>
          <p:cNvSpPr/>
          <p:nvPr/>
        </p:nvSpPr>
        <p:spPr>
          <a:xfrm>
            <a:off x="6446520" y="230428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PyJWT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298094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1"/>
          <p:cNvSpPr/>
          <p:nvPr/>
        </p:nvSpPr>
        <p:spPr>
          <a:xfrm>
            <a:off x="868680" y="28712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980944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3"/>
          <p:cNvSpPr/>
          <p:nvPr/>
        </p:nvSpPr>
        <p:spPr>
          <a:xfrm>
            <a:off x="6446520" y="287121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MediaWiki Action API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5478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5"/>
          <p:cNvSpPr/>
          <p:nvPr/>
        </p:nvSpPr>
        <p:spPr>
          <a:xfrm>
            <a:off x="868680" y="34381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HuggingFace datasets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26480" y="3547872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7"/>
          <p:cNvSpPr/>
          <p:nvPr/>
        </p:nvSpPr>
        <p:spPr>
          <a:xfrm>
            <a:off x="6446520" y="343814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API docs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0515600" cy="914400"/>
          </a:xfrm>
          <a:prstGeom prst="roundRect">
            <a:avLst>
              <a:gd name="adj" fmla="val 10000"/>
            </a:avLst>
          </a:prstGeom>
          <a:solidFill>
            <a:srgbClr val="21295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9"/>
          <p:cNvSpPr/>
          <p:nvPr/>
        </p:nvSpPr>
        <p:spPr>
          <a:xfrm>
            <a:off x="822960" y="51663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проекта: 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github.com/yuliaaleksandrovna/searcher-RAG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1277295" y="6528816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1927</Words>
  <Application>Microsoft Macintosh PowerPoint</Application>
  <PresentationFormat>Широкоэкранный</PresentationFormat>
  <Paragraphs>281</Paragraphs>
  <Slides>14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Соколова Юлия Александровна</cp:lastModifiedBy>
  <cp:revision>2</cp:revision>
  <dcterms:created xsi:type="dcterms:W3CDTF">2026-07-17T14:50:08Z</dcterms:created>
  <dcterms:modified xsi:type="dcterms:W3CDTF">2026-07-17T18:26:19Z</dcterms:modified>
</cp:coreProperties>
</file>